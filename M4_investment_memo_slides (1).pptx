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AA6FC-30A9-2B5A-7A93-0EF2F947F1B2}" v="2" dt="2026-05-01T01:47:55.434"/>
    <p1510:client id="{37F09B40-C8B6-744A-979C-E247C06C7035}" v="1" dt="2026-05-01T02:03:23.365"/>
    <p1510:client id="{420B3583-4BBE-C56B-1CD0-B20D535AE35D}" v="106" dt="2026-05-01T02:00:43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3"/>
  </p:normalViewPr>
  <p:slideViewPr>
    <p:cSldViewPr snapToGrid="0">
      <p:cViewPr varScale="1">
        <p:scale>
          <a:sx n="152" d="100"/>
          <a:sy n="152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75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Rate Sensitivity of U.S. Metro Housing Price Growth</a:t>
            </a:r>
            <a:endParaRPr lang="en-US" sz="4800"/>
          </a:p>
        </p:txBody>
      </p:sp>
      <p:sp>
        <p:nvSpPr>
          <p:cNvPr id="3" name="Text 1"/>
          <p:cNvSpPr/>
          <p:nvPr/>
        </p:nvSpPr>
        <p:spPr>
          <a:xfrm>
            <a:off x="457200" y="295220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2023 Capstone Milestone 4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Kenzie, Reese, Carter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29, 2026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Policy Focus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sensitive are regional home prices to changes in 30-year mortgage rates, and how should policy respond?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666205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16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/ Housing Policy Analysts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66205" y="29032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6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 U.S. metros, quarterly data 2000Q1–2026Q1 (74,991 observations)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66205" y="3272245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6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fixed effects regression with lagged mortgage rates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Sample Construction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metro price index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mortgage rates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 U.S. metros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quarters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quarterly price growth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mortgage rate lag-3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price growth lag-1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effects: metro &amp; quarter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Mortgage Rate Sensitivity (Model A)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548640" y="1257300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CADCFC"/>
          </a:solidFill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percentage point increase in the 30-year mortgage rate (lagged 3 quarters) is associated with a 0.11 percentage point reduction in quarterly metro housing price growth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Coefficient: </a:t>
            </a:r>
            <a:r>
              <a:rPr lang="en-US" sz="24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-0.1077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38404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t-statistic: </a:t>
            </a:r>
            <a:r>
              <a:rPr lang="en-US" sz="22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-16.77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</a:t>
            </a:r>
            <a:r>
              <a:rPr lang="en-US" sz="22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 ***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Implications: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71323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2C2C2C"/>
                </a:solidFill>
                <a:latin typeface="Calibri"/>
                <a:ea typeface="Calibri"/>
                <a:cs typeface="Calibri"/>
              </a:rPr>
              <a:t>1 percentage point rate increase → 0.11 pp lower quarterly growth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2022-2023 rate cycle (3.48 pp) → 0.56–0.71 pp drag on quarterly growth</a:t>
            </a:r>
            <a:endParaRPr lang="en-US" sz="1500"/>
          </a:p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highly statistically and economically significant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Rate Transmission to Housing Markets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457200" y="1221377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workspaces/qm2023-capstone-kenzie-reese-and-carter/results/figures/03_dual_ax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98" y="1574074"/>
            <a:ext cx="5624913" cy="2901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478533-8E25-972C-638E-3C32FCE970C0}"/>
              </a:ext>
            </a:extLst>
          </p:cNvPr>
          <p:cNvSpPr txBox="1"/>
          <p:nvPr/>
        </p:nvSpPr>
        <p:spPr>
          <a:xfrm>
            <a:off x="5977611" y="1574074"/>
            <a:ext cx="2627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FA2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See: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4246A-4DD6-3690-9AFD-2103124A7666}"/>
              </a:ext>
            </a:extLst>
          </p:cNvPr>
          <p:cNvSpPr txBox="1"/>
          <p:nvPr/>
        </p:nvSpPr>
        <p:spPr>
          <a:xfrm>
            <a:off x="5977611" y="1985554"/>
            <a:ext cx="30357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 relationship: when rates spike, price growth falls</a:t>
            </a:r>
            <a:endParaRPr lang="en-US" sz="1800"/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2022-2023 surge in rates triggered a sharp decline in housing momentum</a:t>
            </a:r>
            <a:endParaRPr lang="en-US" sz="1800"/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Effects take time—prices don't respond immediately, but they respond decisively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Heterogeneity in Rate Sensitivity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548639" y="1285374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workspaces/qm2023-capstone-kenzie-reese-and-carter/results/figures/06_group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499937"/>
            <a:ext cx="4757847" cy="3072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DFBA22-1112-E39D-5BE6-E7BDB5626ADB}"/>
              </a:ext>
            </a:extLst>
          </p:cNvPr>
          <p:cNvSpPr txBox="1"/>
          <p:nvPr/>
        </p:nvSpPr>
        <p:spPr>
          <a:xfrm>
            <a:off x="5617028" y="1563122"/>
            <a:ext cx="2547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1FA2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3E3E8-45B1-044B-5F41-C522A078EC71}"/>
              </a:ext>
            </a:extLst>
          </p:cNvPr>
          <p:cNvSpPr txBox="1"/>
          <p:nvPr/>
        </p:nvSpPr>
        <p:spPr>
          <a:xfrm>
            <a:off x="5306486" y="2066815"/>
            <a:ext cx="3768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Suburban areas show 4× higher sensitivity to rate changes</a:t>
            </a:r>
            <a:endParaRPr lang="en-US" sz="1800"/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 centers withstand rate shocks better due to supply constraints and strong demand</a:t>
            </a:r>
            <a:endParaRPr lang="en-US" sz="1800"/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must target support to high-sensitivity regions where affordability stress is greatest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Effects: High-Sensitivity Metros (Model B DiD)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457200" y="1376499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06731"/>
            <a:ext cx="8229600" cy="914400"/>
          </a:xfrm>
          <a:prstGeom prst="rect">
            <a:avLst/>
          </a:prstGeom>
          <a:solidFill>
            <a:srgbClr val="CADCFC"/>
          </a:solidFill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72046"/>
            <a:ext cx="78638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High-exposure metros experienced 0.40 percentage points lower quarterly growth 2022 rate tightening relative to low-exposure metros</a:t>
            </a:r>
            <a:endParaRPr lang="en-US" sz="1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73993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Treated×Post: </a:t>
            </a:r>
            <a:r>
              <a:rPr lang="en-US" sz="24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-0.4000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3226526" y="2602775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t-statistic: </a:t>
            </a:r>
            <a:r>
              <a:rPr lang="en-US" sz="22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-14.14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035040" y="2622369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</a:t>
            </a:r>
            <a:r>
              <a:rPr lang="en-US" sz="22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 ***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40080" y="365106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653143" y="39319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Suburban/exurban markets with elastic supply show larger rate sensitivity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Urban/constrained-supply markets are more resilient to rate tightening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Pre-trend diagnostics suggest parallel trends assumption may be violated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Diagnostics: Residuals &amp; Fit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workspaces/qm2023-capstone-kenzie-reese-and-carter/results/figures/M3_residuals_vs_fit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1247501"/>
            <a:ext cx="5767377" cy="3396344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662A824E-467A-7FB2-2BAC-5AE8BA7C29EC}"/>
              </a:ext>
            </a:extLst>
          </p:cNvPr>
          <p:cNvSpPr/>
          <p:nvPr/>
        </p:nvSpPr>
        <p:spPr>
          <a:xfrm>
            <a:off x="5976257" y="1456508"/>
            <a:ext cx="28340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A2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Quality: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E01998-0A86-45AC-07F3-3437FB1FB706}"/>
              </a:ext>
            </a:extLst>
          </p:cNvPr>
          <p:cNvSpPr/>
          <p:nvPr/>
        </p:nvSpPr>
        <p:spPr>
          <a:xfrm>
            <a:off x="5976257" y="1814104"/>
            <a:ext cx="2429691" cy="2411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Residuals are randomly scattered—the model captures the true relationship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46% of price variation explained by rates and momentum—a strong fit for real-world metro data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are robust to outliers and statistical variations—findings are reliable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30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1: Preserve Borrower Affordability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2C2C2C"/>
                </a:solidFill>
                <a:latin typeface="Calibri"/>
                <a:ea typeface="Calibri"/>
                <a:cs typeface="Calibri"/>
              </a:rPr>
              <a:t>Mortgage tightening reduces quarterly rate-sensitive metro price growth by 0.11 percentage points per 1 percentage point. Target support for moderate-income buyers in suburban and exurban areas to prevent credit stress.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2935" y="2446361"/>
            <a:ext cx="8229600" cy="640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5724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2: Monitor Regional Heterogeneity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31520" y="29535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rate-sensitive and resilient metros is large. Avoid one-size-fits-all guidance; calibrate support programs to local rate exposure and supply elasticity.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2935" y="3546712"/>
            <a:ext cx="8229600" cy="640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2586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3: Use Scenario Planning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31520" y="409651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housing market remains sensitive to rate policy moves. Evaluate policy changes with scenario analysis rather than aggregate guidance to capture regional variation.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Mortgage rates drive metro housing price growth (1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percentage point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increase → 0.11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percentage point 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reduction)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Regional markets diverge: suburban areas show 4× greater rate sensitivity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A is robust; </a:t>
            </a:r>
            <a:r>
              <a:rPr lang="en-US" sz="18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DiD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results suggest cautious directional evidence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should prioritize targeted affordability support and continuous monitoring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2023 Capstone | Milestone 4 | April 29, 2026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Macintosh PowerPoint</Application>
  <PresentationFormat>On-screen Show (16:9)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Mortgage Rate Sensitivity of U.S. Metro Housing Price Growth</dc:title>
  <dc:subject>PptxGenJS Presentation</dc:subject>
  <dc:creator>Kenzie, Reese, Carter</dc:creator>
  <cp:lastModifiedBy>Stevens, Reese</cp:lastModifiedBy>
  <cp:revision>2</cp:revision>
  <dcterms:created xsi:type="dcterms:W3CDTF">2026-04-29T20:46:11Z</dcterms:created>
  <dcterms:modified xsi:type="dcterms:W3CDTF">2026-05-01T02:03:23Z</dcterms:modified>
</cp:coreProperties>
</file>